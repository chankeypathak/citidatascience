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_rels/presentation.xml.rels" ContentType="application/vnd.openxmlformats-package.relationships+xml"/>
  <Override PartName="/ppt/media/image1.jpeg" ContentType="image/jpeg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entation.xml" ContentType="application/vnd.openxmlformats-officedocument.presentationml.presentation.main+xml"/>
  <Override PartName="/ppt/theme/theme2.xml" ContentType="application/vnd.openxmlformats-officedocument.theme+xml"/>
  <Override PartName="/ppt/theme/theme1.xml" ContentType="application/vnd.openxmlformats-officedocument.theme+xml"/>
  <Override PartName="/ppt/slideLayouts/_rels/slideLayout2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6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s/_rels/slide24.xml.rels" ContentType="application/vnd.openxmlformats-package.relationships+xml"/>
  <Override PartName="/ppt/slides/_rels/slide23.xml.rels" ContentType="application/vnd.openxmlformats-package.relationships+xml"/>
  <Override PartName="/ppt/slides/_rels/slide22.xml.rels" ContentType="application/vnd.openxmlformats-package.relationships+xml"/>
  <Override PartName="/ppt/slides/_rels/slide21.xml.rels" ContentType="application/vnd.openxmlformats-package.relationships+xml"/>
  <Override PartName="/ppt/slides/_rels/slide20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.xml.rels" ContentType="application/vnd.openxmlformats-package.relationships+xml"/>
  <Override PartName="/ppt/slides/_rels/slide9.xml.rels" ContentType="application/vnd.openxmlformats-package.relationships+xml"/>
  <Override PartName="/ppt/slides/_rels/slide2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20.xml" ContentType="application/vnd.openxmlformats-officedocument.presentationml.slide+xml"/>
  <Override PartName="/ppt/slides/slide19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0080625" cy="7559675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504000" y="1769040"/>
            <a:ext cx="9071280" cy="43840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280" cy="4384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560" cy="4384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5152320" y="1769040"/>
            <a:ext cx="4426560" cy="4384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1280" cy="29548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5152320" y="1769040"/>
            <a:ext cx="4426560" cy="4384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body"/>
          </p:nvPr>
        </p:nvSpPr>
        <p:spPr>
          <a:xfrm>
            <a:off x="504000" y="405900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560" cy="4384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5152320" y="176904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5152320" y="405900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5152320" y="176904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504000" y="4059000"/>
            <a:ext cx="90712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2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504000" y="4059000"/>
            <a:ext cx="90712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5152320" y="176904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body"/>
          </p:nvPr>
        </p:nvSpPr>
        <p:spPr>
          <a:xfrm>
            <a:off x="504000" y="405900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body"/>
          </p:nvPr>
        </p:nvSpPr>
        <p:spPr>
          <a:xfrm>
            <a:off x="5152320" y="405900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29206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3571200" y="1769040"/>
            <a:ext cx="29206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6638040" y="1769040"/>
            <a:ext cx="29206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504000" y="4059000"/>
            <a:ext cx="29206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body"/>
          </p:nvPr>
        </p:nvSpPr>
        <p:spPr>
          <a:xfrm>
            <a:off x="3571200" y="4059000"/>
            <a:ext cx="29206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body"/>
          </p:nvPr>
        </p:nvSpPr>
        <p:spPr>
          <a:xfrm>
            <a:off x="6638040" y="4059000"/>
            <a:ext cx="29206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504000" y="1769040"/>
            <a:ext cx="9071280" cy="43840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280" cy="4384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560" cy="4384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5152320" y="1769040"/>
            <a:ext cx="4426560" cy="4384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1280" cy="29548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5152320" y="1769040"/>
            <a:ext cx="4426560" cy="4384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504000" y="405900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560" cy="4384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5152320" y="176904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5152320" y="405900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5152320" y="176904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body"/>
          </p:nvPr>
        </p:nvSpPr>
        <p:spPr>
          <a:xfrm>
            <a:off x="504000" y="4059000"/>
            <a:ext cx="90712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2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504000" y="4059000"/>
            <a:ext cx="90712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body"/>
          </p:nvPr>
        </p:nvSpPr>
        <p:spPr>
          <a:xfrm>
            <a:off x="5152320" y="176904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body"/>
          </p:nvPr>
        </p:nvSpPr>
        <p:spPr>
          <a:xfrm>
            <a:off x="504000" y="405900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body"/>
          </p:nvPr>
        </p:nvSpPr>
        <p:spPr>
          <a:xfrm>
            <a:off x="5152320" y="4059000"/>
            <a:ext cx="442656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IE" sz="4400" spc="-1" strike="noStrike"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504000" y="1769040"/>
            <a:ext cx="29206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3571200" y="1769040"/>
            <a:ext cx="29206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6638040" y="1769040"/>
            <a:ext cx="29206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body"/>
          </p:nvPr>
        </p:nvSpPr>
        <p:spPr>
          <a:xfrm>
            <a:off x="504000" y="4059000"/>
            <a:ext cx="29206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body"/>
          </p:nvPr>
        </p:nvSpPr>
        <p:spPr>
          <a:xfrm>
            <a:off x="3571200" y="4059000"/>
            <a:ext cx="29206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 type="body"/>
          </p:nvPr>
        </p:nvSpPr>
        <p:spPr>
          <a:xfrm>
            <a:off x="6638040" y="4059000"/>
            <a:ext cx="2920680" cy="20908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IE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" descr=""/>
          <p:cNvPicPr/>
          <p:nvPr/>
        </p:nvPicPr>
        <p:blipFill>
          <a:blip r:embed="rId2"/>
          <a:stretch/>
        </p:blipFill>
        <p:spPr>
          <a:xfrm>
            <a:off x="0" y="5806440"/>
            <a:ext cx="10079280" cy="1753920"/>
          </a:xfrm>
          <a:prstGeom prst="rect">
            <a:avLst/>
          </a:prstGeom>
          <a:ln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r>
              <a:rPr b="0" lang="en-IE" sz="4400" spc="-1" strike="noStrike">
                <a:latin typeface="Arial"/>
              </a:rPr>
              <a:t>Click to edit the title text format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latin typeface="Arial"/>
              </a:rPr>
              <a:t>Click to edit the outline text format</a:t>
            </a:r>
            <a:endParaRPr b="0" lang="en-IE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2800" spc="-1" strike="noStrike">
                <a:latin typeface="Arial"/>
              </a:rPr>
              <a:t>Second Outline Level</a:t>
            </a:r>
            <a:endParaRPr b="0" lang="en-IE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2400" spc="-1" strike="noStrike">
                <a:latin typeface="Arial"/>
              </a:rPr>
              <a:t>Third Outline Level</a:t>
            </a:r>
            <a:endParaRPr b="0" lang="en-IE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2000" spc="-1" strike="noStrike">
                <a:latin typeface="Arial"/>
              </a:rPr>
              <a:t>Fourth Outline Level</a:t>
            </a:r>
            <a:endParaRPr b="0" lang="en-IE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2000" spc="-1" strike="noStrike">
                <a:latin typeface="Arial"/>
              </a:rPr>
              <a:t>Fifth Outline Level</a:t>
            </a:r>
            <a:endParaRPr b="0" lang="en-IE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2000" spc="-1" strike="noStrike">
                <a:latin typeface="Arial"/>
              </a:rPr>
              <a:t>Sixth Outline Level</a:t>
            </a:r>
            <a:endParaRPr b="0" lang="en-IE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2000" spc="-1" strike="noStrike">
                <a:latin typeface="Arial"/>
              </a:rPr>
              <a:t>Seventh Outline Level</a:t>
            </a:r>
            <a:endParaRPr b="0" lang="en-IE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stomShape 1"/>
          <p:cNvSpPr/>
          <p:nvPr/>
        </p:nvSpPr>
        <p:spPr>
          <a:xfrm>
            <a:off x="0" y="0"/>
            <a:ext cx="10076400" cy="941400"/>
          </a:xfrm>
          <a:prstGeom prst="rect">
            <a:avLst/>
          </a:prstGeom>
          <a:gradFill rotWithShape="0">
            <a:gsLst>
              <a:gs pos="0">
                <a:srgbClr val="dff2fc"/>
              </a:gs>
              <a:gs pos="100000">
                <a:srgbClr val="009bdd"/>
              </a:gs>
            </a:gsLst>
            <a:lin ang="10800000"/>
          </a:gra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" name="CustomShape 2"/>
          <p:cNvSpPr/>
          <p:nvPr/>
        </p:nvSpPr>
        <p:spPr>
          <a:xfrm>
            <a:off x="0" y="6620400"/>
            <a:ext cx="10076400" cy="941400"/>
          </a:xfrm>
          <a:prstGeom prst="rect">
            <a:avLst/>
          </a:prstGeom>
          <a:gradFill rotWithShape="0">
            <a:gsLst>
              <a:gs pos="0">
                <a:srgbClr val="dff2fc"/>
              </a:gs>
              <a:gs pos="100000">
                <a:srgbClr val="009bdd"/>
              </a:gs>
            </a:gsLst>
            <a:lin ang="10800000"/>
          </a:gra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" name="PlaceHolder 3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280" cy="637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r>
              <a:rPr b="0" lang="en-IE" sz="4400" spc="-1" strike="noStrike">
                <a:latin typeface="Arial"/>
              </a:rPr>
              <a:t>Click to edit the title text format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504000" y="1769040"/>
            <a:ext cx="9071280" cy="43840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latin typeface="Arial"/>
              </a:rPr>
              <a:t>Click to edit the outline text format</a:t>
            </a:r>
            <a:endParaRPr b="0" lang="en-IE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2800" spc="-1" strike="noStrike">
                <a:latin typeface="Arial"/>
              </a:rPr>
              <a:t>Second Outline Level</a:t>
            </a:r>
            <a:endParaRPr b="0" lang="en-IE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2400" spc="-1" strike="noStrike">
                <a:latin typeface="Arial"/>
              </a:rPr>
              <a:t>Third Outline Level</a:t>
            </a:r>
            <a:endParaRPr b="0" lang="en-IE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2000" spc="-1" strike="noStrike">
                <a:latin typeface="Arial"/>
              </a:rPr>
              <a:t>Fourth Outline Level</a:t>
            </a:r>
            <a:endParaRPr b="0" lang="en-IE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2000" spc="-1" strike="noStrike">
                <a:latin typeface="Arial"/>
              </a:rPr>
              <a:t>Fifth Outline Level</a:t>
            </a:r>
            <a:endParaRPr b="0" lang="en-IE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2000" spc="-1" strike="noStrike">
                <a:latin typeface="Arial"/>
              </a:rPr>
              <a:t>Sixth Outline Level</a:t>
            </a:r>
            <a:endParaRPr b="0" lang="en-IE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2000" spc="-1" strike="noStrike">
                <a:latin typeface="Arial"/>
              </a:rPr>
              <a:t>Seventh Outline Level</a:t>
            </a:r>
            <a:endParaRPr b="0" lang="en-IE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CustomShape 1"/>
          <p:cNvSpPr/>
          <p:nvPr/>
        </p:nvSpPr>
        <p:spPr>
          <a:xfrm>
            <a:off x="0" y="2341080"/>
            <a:ext cx="9071280" cy="1261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006699"/>
                </a:solidFill>
                <a:latin typeface="Arial"/>
              </a:rPr>
              <a:t>Trading Strategies with Python</a:t>
            </a:r>
            <a:endParaRPr b="0" lang="en-IE" sz="4400" spc="-1" strike="noStrike">
              <a:latin typeface="Arial"/>
            </a:endParaRPr>
          </a:p>
        </p:txBody>
      </p:sp>
    </p:spTree>
  </p:cSld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Implementing Trading Strategies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81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In this module, we are going to use Python and Pandas to extract and model some trading strategies.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The first strategy will look at is the </a:t>
            </a:r>
            <a:r>
              <a:rPr b="0" i="1" lang="en-IE" sz="3200" spc="-1" strike="noStrike">
                <a:solidFill>
                  <a:srgbClr val="0066cc"/>
                </a:solidFill>
                <a:latin typeface="Arial"/>
              </a:rPr>
              <a:t>moving average</a:t>
            </a: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. 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The next example will show how to calculate this using Pandas. 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3" dur="indefinite" restart="never" nodeType="tmRoot">
          <p:childTnLst>
            <p:seq>
              <p:cTn id="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Introduction to Python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 </a:t>
            </a:r>
            <a:endParaRPr b="0" lang="en-IE" sz="3200" spc="-1" strike="noStrike">
              <a:latin typeface="Arial"/>
            </a:endParaRPr>
          </a:p>
        </p:txBody>
      </p:sp>
      <p:graphicFrame>
        <p:nvGraphicFramePr>
          <p:cNvPr id="84" name="Table 3"/>
          <p:cNvGraphicFramePr/>
          <p:nvPr/>
        </p:nvGraphicFramePr>
        <p:xfrm>
          <a:off x="100800" y="1435320"/>
          <a:ext cx="9646920" cy="4113000"/>
        </p:xfrm>
        <a:graphic>
          <a:graphicData uri="http://schemas.openxmlformats.org/drawingml/2006/table">
            <a:tbl>
              <a:tblPr/>
              <a:tblGrid>
                <a:gridCol w="9647280"/>
              </a:tblGrid>
              <a:tr h="4113360"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Import pandas as pd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# Create data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data = {'score': [1,1,1,2,2,2,3,3,3]}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# Create dataframe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 = pd.DataFrame(data)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# Calculate the moving average. That is, take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# the first two values, average them, 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# then drop the first and add the third, etc.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df.rolling(window=2).mean()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IE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</a:tbl>
          </a:graphicData>
        </a:graphic>
      </p:graphicFrame>
    </p:spTree>
  </p:cSld>
  <p:timing>
    <p:tnLst>
      <p:par>
        <p:cTn id="5" dur="indefinite" restart="never" nodeType="tmRoot">
          <p:childTnLst>
            <p:seq>
              <p:cTn id="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Implementing Trading Strategies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86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As we can see, Pandas offers a built-in method called </a:t>
            </a:r>
            <a:r>
              <a:rPr b="0" i="1" lang="en-IE" sz="3200" spc="-1" strike="noStrike">
                <a:solidFill>
                  <a:srgbClr val="0066cc"/>
                </a:solidFill>
                <a:latin typeface="Arial"/>
              </a:rPr>
              <a:t>rolling.mean() </a:t>
            </a: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which will automatically calculate the moving average for us.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The </a:t>
            </a:r>
            <a:r>
              <a:rPr b="0" i="1" lang="en-IE" sz="3200" spc="-1" strike="noStrike">
                <a:solidFill>
                  <a:srgbClr val="0066cc"/>
                </a:solidFill>
                <a:latin typeface="Arial"/>
              </a:rPr>
              <a:t>window</a:t>
            </a: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 parameter tells us how many values to average before moving to the next set. 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7" dur="indefinite" restart="never" nodeType="tmRoot">
          <p:childTnLst>
            <p:seq>
              <p:cTn id="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Implenting Trading Strategies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88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The next example shows how to use pandas to calculate a moving average for a specific stock, and how to perform various tasks, such as plotting it, computing and plotting the log change (The instantaneous rate of return)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Next, we’ll compute the rolling historical volatility and perform some price analysis using Pandas. 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9" dur="indefinite" restart="never" nodeType="tmRoot">
          <p:childTnLst>
            <p:seq>
              <p:cTn id="1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Introduction to Python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90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 </a:t>
            </a:r>
            <a:endParaRPr b="0" lang="en-IE" sz="3200" spc="-1" strike="noStrike">
              <a:latin typeface="Arial"/>
            </a:endParaRPr>
          </a:p>
        </p:txBody>
      </p:sp>
      <p:graphicFrame>
        <p:nvGraphicFramePr>
          <p:cNvPr id="91" name="Table 3"/>
          <p:cNvGraphicFramePr/>
          <p:nvPr/>
        </p:nvGraphicFramePr>
        <p:xfrm>
          <a:off x="100800" y="1435320"/>
          <a:ext cx="9646920" cy="4113000"/>
        </p:xfrm>
        <a:graphic>
          <a:graphicData uri="http://schemas.openxmlformats.org/drawingml/2006/table">
            <a:tbl>
              <a:tblPr/>
              <a:tblGrid>
                <a:gridCol w="9647280"/>
              </a:tblGrid>
              <a:tr h="4113360"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import numpy as np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import pandas as pd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import pandas_datareader as pdr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import matplotlib.pyplot as plt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gld = pdr.get_data_yahoo('GLD', '2016-11-08')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gld_close = pd.DataFrame(gld.Close)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gld_close['MA_9'] = gld_close.Close.rolling(9).mean().shift()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gld_close['MA_21'] = gld_close.Close.rolling(21).mean()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plt.figure(figsize=(15,10))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plt.grid(True)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plt.plot(gld_close['Close'],label='GLD')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plt.plot(gld_close['MA_9'], label='MA 9 day')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plt.plot(gld_close['MA_21'], label='MA 21 day')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plt.legend(loc=2)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plt.show()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gld_close["change"] = np.log(gld_close["Close"] / gld_close["Close"].shift())</a:t>
                      </a:r>
                      <a:endParaRPr b="0" lang="en-IE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</a:tbl>
          </a:graphicData>
        </a:graphic>
      </p:graphicFrame>
    </p:spTree>
  </p:cSld>
  <p:timing>
    <p:tnLst>
      <p:par>
        <p:cTn id="11" dur="indefinite" restart="never" nodeType="tmRoot">
          <p:childTnLst>
            <p:seq>
              <p:cTn id="1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Introduction to Python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 </a:t>
            </a:r>
            <a:endParaRPr b="0" lang="en-IE" sz="3200" spc="-1" strike="noStrike">
              <a:latin typeface="Arial"/>
            </a:endParaRPr>
          </a:p>
        </p:txBody>
      </p:sp>
      <p:graphicFrame>
        <p:nvGraphicFramePr>
          <p:cNvPr id="94" name="Table 3"/>
          <p:cNvGraphicFramePr/>
          <p:nvPr/>
        </p:nvGraphicFramePr>
        <p:xfrm>
          <a:off x="100800" y="1435320"/>
          <a:ext cx="9646920" cy="4113000"/>
        </p:xfrm>
        <a:graphic>
          <a:graphicData uri="http://schemas.openxmlformats.org/drawingml/2006/table">
            <a:tbl>
              <a:tblPr/>
              <a:tblGrid>
                <a:gridCol w="9647280"/>
              </a:tblGrid>
              <a:tr h="4113360"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gld_close['Volatility'] = gld_close.change.rolling(21).std().shift()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gld_close['Volatility'].plot()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#offset expected change 1-day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gld_close['exp_chng'] = gld_close['Volatility'] * gld_close['Close'].shift()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gld_close['actual_chng'] = gld_close['Close'] – gld_close['Close'].shift()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 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gld_close = pd.DataFrame(gld_close.iloc[22:])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gld_close['Magnitude'] = gld_close['actual_chng'] / gld_close['exp_chng'] 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gld_close['abs_magni'] = np.abs(gld_close['Magnitude'])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plt.scatter(gld_close['actual_chng'], gld_close['abs_magni'])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plt.show()</a:t>
                      </a:r>
                      <a:endParaRPr b="0" lang="en-IE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</a:tbl>
          </a:graphicData>
        </a:graphic>
      </p:graphicFrame>
    </p:spTree>
  </p:cSld>
  <p:timing>
    <p:tnLst>
      <p:par>
        <p:cTn id="13" dur="indefinite" restart="never" nodeType="tmRoot">
          <p:childTnLst>
            <p:seq>
              <p:cTn id="1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Implenting Trading Strategies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96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In the previous example, we pull information about the price of gold with a start date of 08-11-2016 (The latest national US election)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We extract only the closing price as that is all we are interested in.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Next, we add two columns of data to the new dataframe. One is the nine day rolling average, the other is the 21 day rolling average. 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15" dur="indefinite" restart="never" nodeType="tmRoot">
          <p:childTnLst>
            <p:seq>
              <p:cTn id="1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Implenting Trading Strategies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The parameter Center=True shifts (lags) the moving average.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The shift() method shifts the observation window by a default value of one.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Next, we calculate the instantaneous rate of return by taking the log of the current closing price and divide it by the previous day’s price and then graphing it. 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17" dur="indefinite" restart="never" nodeType="tmRoot">
          <p:childTnLst>
            <p:seq>
              <p:cTn id="1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Implenting Trading Strategies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00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We can also calculate the volatility of the commodity by calculating the standard deviation of the 21 day rolling average.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Plotting a histogram of this data shows a trend towards negative volatility (i.e. prices trending downward) than positive volatility.  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19" dur="indefinite" restart="never" nodeType="tmRoot">
          <p:childTnLst>
            <p:seq>
              <p:cTn id="2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Implenting Trading Strategies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02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Finally we can calculate the magnitude of the change (The expected change modeled by taking the standard deviation vs the actual change represented by empirical data).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Using these values can indicate to us a trading strategy that we can use to decide whether to buy, hold or sell the commodity. 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21" dur="indefinite" restart="never" nodeType="tmRoot">
          <p:childTnLst>
            <p:seq>
              <p:cTn id="2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Regression and Classification Algorithms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04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There are a number of algorithms that we can use to determine our trading strategy.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These algorithms are usually either </a:t>
            </a:r>
            <a:r>
              <a:rPr b="0" i="1" lang="en-IE" sz="3200" spc="-1" strike="noStrike">
                <a:solidFill>
                  <a:srgbClr val="0066cc"/>
                </a:solidFill>
                <a:latin typeface="Arial"/>
              </a:rPr>
              <a:t>predictive</a:t>
            </a: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 i.e.a regression algorithm, or </a:t>
            </a:r>
            <a:r>
              <a:rPr b="0" i="1" lang="en-IE" sz="3200" spc="-1" strike="noStrike">
                <a:solidFill>
                  <a:srgbClr val="0066cc"/>
                </a:solidFill>
                <a:latin typeface="Arial"/>
              </a:rPr>
              <a:t>categorical</a:t>
            </a: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.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We’ll look at a sample of different algorithms that we can employ to determine our optimal trading strategy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23" dur="indefinite" restart="never" nodeType="tmRoot">
          <p:childTnLst>
            <p:seq>
              <p:cTn id="2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Implenting Trading Strategies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06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The previous set of slides gave some ideas on how to collect or compute the appropriate data sets.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Now we have to use that data to power our algorithms.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The first algorithm we will examine is </a:t>
            </a:r>
            <a:r>
              <a:rPr b="0" i="1" lang="en-IE" sz="3200" spc="-1" strike="noStrike">
                <a:solidFill>
                  <a:srgbClr val="0066cc"/>
                </a:solidFill>
                <a:latin typeface="Arial"/>
              </a:rPr>
              <a:t>Linear Regression</a:t>
            </a: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. 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25" dur="indefinite" restart="never" nodeType="tmRoot">
          <p:childTnLst>
            <p:seq>
              <p:cTn id="2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Implenting Trading Strategies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08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We use linear regression to attempt to predict the value of a dependent variable by fitting a line through a plot of one or more independent variables. 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We attempt to find a line that is our “best fit”. In other words, given an equation of y = mx + b, what is the optimal value for m and b that will give us the best possible prediction set.  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27" dur="indefinite" restart="never" nodeType="tmRoot">
          <p:childTnLst>
            <p:seq>
              <p:cTn id="2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Implementing Trading Algorithms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10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E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There are a number of toolkits that we can use to apply Linear Regression, however, the easiest one is the Python toolkit </a:t>
            </a:r>
            <a:r>
              <a:rPr b="0" i="1" lang="en-IE" sz="3200" spc="-1" strike="noStrike">
                <a:solidFill>
                  <a:srgbClr val="0066cc"/>
                </a:solidFill>
                <a:latin typeface="Arial"/>
              </a:rPr>
              <a:t>sklearn</a:t>
            </a: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. 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Sklearn contains a number of regression and classification algorithmns that we can employ. 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29" dur="indefinite" restart="never" nodeType="tmRoot">
          <p:childTnLst>
            <p:seq>
              <p:cTn id="3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Implementing Trading Algorithms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12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E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In the next example, we’ll see an application that takes data from Quandl and runs linear regression.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In this example the dependent variable is the closing price, and the independent variable is the date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31" dur="indefinite" restart="never" nodeType="tmRoot">
          <p:childTnLst>
            <p:seq>
              <p:cTn id="3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Introduction to Python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14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 </a:t>
            </a:r>
            <a:endParaRPr b="0" lang="en-IE" sz="3200" spc="-1" strike="noStrike">
              <a:latin typeface="Arial"/>
            </a:endParaRPr>
          </a:p>
        </p:txBody>
      </p:sp>
      <p:graphicFrame>
        <p:nvGraphicFramePr>
          <p:cNvPr id="115" name="Table 3"/>
          <p:cNvGraphicFramePr/>
          <p:nvPr/>
        </p:nvGraphicFramePr>
        <p:xfrm>
          <a:off x="158400" y="1212840"/>
          <a:ext cx="9646920" cy="4113000"/>
        </p:xfrm>
        <a:graphic>
          <a:graphicData uri="http://schemas.openxmlformats.org/drawingml/2006/table">
            <a:tbl>
              <a:tblPr/>
              <a:tblGrid>
                <a:gridCol w="9647280"/>
              </a:tblGrid>
              <a:tr h="4113360"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import numpy as np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import matplotlib.pyplot as plt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from matplotlib import style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from sklearn.linear_model import LinearRegression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from sklearn.model_selection import train_test_split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import quandl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import datetime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style.use('ggplot')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 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#Dates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start_date = datetime.date(2017,1,3)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end_date = datetime.date.today()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 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quandl.ApiConfig.api_key = "your key here"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 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#Get Data From Quandl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df = quandl.get('WIKI/AAP.4', start_date=start_date, end_date=end_date, collapse="daily")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df = df.reset_index()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prices = df['Close'].tolist()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dates = df.index.tolist()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 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#Convert to 1d Vector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dates = np.reshape(dates, (len(dates), 1))</a:t>
                      </a:r>
                      <a:endParaRPr b="0" lang="en-IE" sz="145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450" spc="-1" strike="noStrike">
                          <a:latin typeface="Courier New"/>
                        </a:rPr>
                        <a:t>prices = np.reshape(prices, (len(prices), 1))</a:t>
                      </a:r>
                      <a:endParaRPr b="0" lang="en-IE" sz="145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</a:tbl>
          </a:graphicData>
        </a:graphic>
      </p:graphicFrame>
    </p:spTree>
  </p:cSld>
  <p:timing>
    <p:tnLst>
      <p:par>
        <p:cTn id="33" dur="indefinite" restart="never" nodeType="tmRoot">
          <p:childTnLst>
            <p:seq>
              <p:cTn id="3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Introduction to Python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 </a:t>
            </a:r>
            <a:endParaRPr b="0" lang="en-IE" sz="3200" spc="-1" strike="noStrike">
              <a:latin typeface="Arial"/>
            </a:endParaRPr>
          </a:p>
        </p:txBody>
      </p:sp>
      <p:graphicFrame>
        <p:nvGraphicFramePr>
          <p:cNvPr id="118" name="Table 3"/>
          <p:cNvGraphicFramePr/>
          <p:nvPr/>
        </p:nvGraphicFramePr>
        <p:xfrm>
          <a:off x="100800" y="1435320"/>
          <a:ext cx="9646920" cy="4113000"/>
        </p:xfrm>
        <a:graphic>
          <a:graphicData uri="http://schemas.openxmlformats.org/drawingml/2006/table">
            <a:tbl>
              <a:tblPr/>
              <a:tblGrid>
                <a:gridCol w="9647280"/>
              </a:tblGrid>
              <a:tr h="4113360"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regressor = LinearRegression()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regressor.fit(dates, prices)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 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#Visualize Results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plt.scatter(dates, prices, color='yellow', label= 'Actual Price') #plotting the initial datapoints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plt.plot(dates, regressor.predict(dates), color='red', linewidth=3, label = 'Predicted Price') #plotting the line made by linear regression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plt.title('Linear Regression | Time vs. Price')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plt.legend()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plt.xlabel('Date Integer')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plt.show()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 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#Predict Price on Given Date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date = 10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predicted_price =regressor.predict(date)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print(predicted_price[0][0],regressor.coef_[0][0] ,regressor.intercept_[0])</a:t>
                      </a:r>
                      <a:endParaRPr b="0" lang="en-IE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</a:tbl>
          </a:graphicData>
        </a:graphic>
      </p:graphicFrame>
    </p:spTree>
  </p:cSld>
  <p:timing>
    <p:tnLst>
      <p:par>
        <p:cTn id="35" dur="indefinite" restart="never" nodeType="tmRoot">
          <p:childTnLst>
            <p:seq>
              <p:cTn id="3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Implementing Trading Algorithms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20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E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In this example, we use Quandl to get a stock price.  We grab the closing price and use the date as our dataframe index.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We then convert both the prices and the dates into one dimensional vectors that we’ll feed to our linear regression algorithm. 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37" dur="indefinite" restart="never" nodeType="tmRoot">
          <p:childTnLst>
            <p:seq>
              <p:cTn id="3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Implementing Trading Algorithms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22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E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We use SKLearn to create a regression instance and then fit the data to it.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We can then plot a graph to see how well the line fits the data. 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Finally, we can test some new data by passing it to the </a:t>
            </a:r>
            <a:r>
              <a:rPr b="0" i="1" lang="en-IE" sz="3200" spc="-1" strike="noStrike">
                <a:solidFill>
                  <a:srgbClr val="0066cc"/>
                </a:solidFill>
                <a:latin typeface="Arial"/>
              </a:rPr>
              <a:t>predict()</a:t>
            </a: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 method to see how well the test data fits the line. 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39" dur="indefinite" restart="never" nodeType="tmRoot">
          <p:childTnLst>
            <p:seq>
              <p:cTn id="40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Implementing Trading Algorithms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24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IE" sz="18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Let’s look at another type of algorithm, a </a:t>
            </a:r>
            <a:r>
              <a:rPr b="0" i="1" lang="en-IE" sz="3200" spc="-1" strike="noStrike">
                <a:solidFill>
                  <a:srgbClr val="0066cc"/>
                </a:solidFill>
                <a:latin typeface="Arial"/>
              </a:rPr>
              <a:t>classification</a:t>
            </a: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 algorithm.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Classification lets us predict the value of a variable based on data from previous states. </a:t>
            </a:r>
            <a:endParaRPr b="0" lang="en-IE" sz="3200" spc="-1" strike="noStrike">
              <a:latin typeface="Arial"/>
            </a:endParaRPr>
          </a:p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In the next example, we will predict whether the price of a stock will go up, down or stay the same.</a:t>
            </a:r>
            <a:endParaRPr b="0" lang="en-IE" sz="3200" spc="-1" strike="noStrike">
              <a:latin typeface="Arial"/>
            </a:endParaRPr>
          </a:p>
        </p:txBody>
      </p:sp>
    </p:spTree>
  </p:cSld>
  <p:timing>
    <p:tnLst>
      <p:par>
        <p:cTn id="41" dur="indefinite" restart="never" nodeType="tmRoot">
          <p:childTnLst>
            <p:seq>
              <p:cTn id="4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Introduction to Python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26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 </a:t>
            </a:r>
            <a:endParaRPr b="0" lang="en-IE" sz="3200" spc="-1" strike="noStrike">
              <a:latin typeface="Arial"/>
            </a:endParaRPr>
          </a:p>
        </p:txBody>
      </p:sp>
      <p:graphicFrame>
        <p:nvGraphicFramePr>
          <p:cNvPr id="127" name="Table 3"/>
          <p:cNvGraphicFramePr/>
          <p:nvPr/>
        </p:nvGraphicFramePr>
        <p:xfrm>
          <a:off x="100800" y="1435320"/>
          <a:ext cx="9646920" cy="4113000"/>
        </p:xfrm>
        <a:graphic>
          <a:graphicData uri="http://schemas.openxmlformats.org/drawingml/2006/table">
            <a:tbl>
              <a:tblPr/>
              <a:tblGrid>
                <a:gridCol w="9647280"/>
              </a:tblGrid>
              <a:tr h="4113360"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# Data Manupulation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import numpy as np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import pandas as pd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# Techinical Indicators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import talib as ta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# Plotting graphs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import matplotlib.pyplot as plt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# Machine learning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from sklearn.linear_model import LogisticRegression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from sklearn import metrics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from sklearn.cross_validation import cross_val_score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# Data fetching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from pandas_datareader import data as pdr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import fix_yahoo_finance as yf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yf.pdr_override()</a:t>
                      </a:r>
                      <a:endParaRPr b="0" lang="en-IE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</a:tbl>
          </a:graphicData>
        </a:graphic>
      </p:graphicFrame>
    </p:spTree>
  </p:cSld>
  <p:timing>
    <p:tnLst>
      <p:par>
        <p:cTn id="43" dur="indefinite" restart="never" nodeType="tmRoot">
          <p:childTnLst>
            <p:seq>
              <p:cTn id="4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Implementing Trading Algorithms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29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 </a:t>
            </a:r>
            <a:endParaRPr b="0" lang="en-IE" sz="3200" spc="-1" strike="noStrike">
              <a:latin typeface="Arial"/>
            </a:endParaRPr>
          </a:p>
        </p:txBody>
      </p:sp>
      <p:graphicFrame>
        <p:nvGraphicFramePr>
          <p:cNvPr id="130" name="Table 3"/>
          <p:cNvGraphicFramePr/>
          <p:nvPr/>
        </p:nvGraphicFramePr>
        <p:xfrm>
          <a:off x="100800" y="1435320"/>
          <a:ext cx="9646920" cy="4113000"/>
        </p:xfrm>
        <a:graphic>
          <a:graphicData uri="http://schemas.openxmlformats.org/drawingml/2006/table">
            <a:tbl>
              <a:tblPr/>
              <a:tblGrid>
                <a:gridCol w="9647280"/>
              </a:tblGrid>
              <a:tr h="4113360"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 = pdr.get_data_yahoo('^NSEI', '2000-01-01', '2018-01-01')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 = df.dropna()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 = df.iloc[:,:4]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df.head()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df['S_10'] = df['Close'].rolling(window=10).mean()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df['Corr'] = df['Close'].rolling(window=10).corr(df['S_10'])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df['RSI'] = ta.RSI(np.array(df['Close']), timeperiod =10)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df['Open-Close'] = df['Open'] - df['Close'].shift(1)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df['Open-Open'] = df['Open'] - df['Open'].shift(1)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 = df.dropna()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X = df.iloc[:,:9]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y = np.where (df['Close'].shift(-1) &gt; df['Close'],1,-1)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model = LogisticRegression()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model = model.fit (X,Y)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probability = model.predict_proba(X_test)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print probability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predicted = model.predict(X_test) # Note X_Test is some testing data.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print metrics.confusion_matrix(y_test, predicted) # Again y_test is some testing_output</a:t>
                      </a:r>
                      <a:endParaRPr b="0" lang="en-IE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</a:tbl>
          </a:graphicData>
        </a:graphic>
      </p:graphicFrame>
    </p:spTree>
  </p:cSld>
  <p:timing>
    <p:tnLst>
      <p:par>
        <p:cTn id="45" dur="indefinite" restart="never" nodeType="tmRoot">
          <p:childTnLst>
            <p:seq>
              <p:cTn id="4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CustomShape 1"/>
          <p:cNvSpPr/>
          <p:nvPr/>
        </p:nvSpPr>
        <p:spPr>
          <a:xfrm>
            <a:off x="504000" y="301320"/>
            <a:ext cx="907128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/>
          <a:p>
            <a:pPr algn="ctr">
              <a:lnSpc>
                <a:spcPct val="100000"/>
              </a:lnSpc>
            </a:pPr>
            <a:r>
              <a:rPr b="0" lang="en-IE" sz="4400" spc="-1" strike="noStrike">
                <a:solidFill>
                  <a:srgbClr val="ffffff"/>
                </a:solidFill>
                <a:latin typeface="Arial"/>
              </a:rPr>
              <a:t>Implementing Trading Algorithms</a:t>
            </a:r>
            <a:endParaRPr b="0" lang="en-IE" sz="4400" spc="-1" strike="noStrike">
              <a:latin typeface="Arial"/>
            </a:endParaRPr>
          </a:p>
        </p:txBody>
      </p:sp>
      <p:sp>
        <p:nvSpPr>
          <p:cNvPr id="132" name="CustomShape 2"/>
          <p:cNvSpPr/>
          <p:nvPr/>
        </p:nvSpPr>
        <p:spPr>
          <a:xfrm>
            <a:off x="504000" y="1769040"/>
            <a:ext cx="9071280" cy="438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/>
          <a:p>
            <a:pPr marL="432000" indent="-323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66cc"/>
                </a:solidFill>
                <a:latin typeface="Arial"/>
              </a:rPr>
              <a:t> </a:t>
            </a:r>
            <a:endParaRPr b="0" lang="en-IE" sz="3200" spc="-1" strike="noStrike">
              <a:latin typeface="Arial"/>
            </a:endParaRPr>
          </a:p>
        </p:txBody>
      </p:sp>
      <p:graphicFrame>
        <p:nvGraphicFramePr>
          <p:cNvPr id="133" name="Table 3"/>
          <p:cNvGraphicFramePr/>
          <p:nvPr/>
        </p:nvGraphicFramePr>
        <p:xfrm>
          <a:off x="100800" y="1435320"/>
          <a:ext cx="9646920" cy="4113000"/>
        </p:xfrm>
        <a:graphic>
          <a:graphicData uri="http://schemas.openxmlformats.org/drawingml/2006/table">
            <a:tbl>
              <a:tblPr/>
              <a:tblGrid>
                <a:gridCol w="9647280"/>
              </a:tblGrid>
              <a:tr h="4113360">
                <a:tc>
                  <a:txBody>
                    <a:bodyPr lIns="90000" rIns="90000"/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df['Predicted_Signal'] = model.predict(X)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df['Nifty_returns'] = np.log(df['Close']/df['Close'].shift(1))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Cumulative_Nifty_returns = np.cumsum(df[split:]['Nifty_returns'])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df['Startegy_returns'] = df['Nifty_returns']* df['Predicted_Signal'].shift(1)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Cumulative_Strategy_returns = np.cumsum(df[split:]['Startegy_returns'])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plt.figure(figsize=(10,5))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plt.plot(Cumulative_Nifty_returns, color='r',label = 'Nifty Returns')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plt.plot(Cumulative_Strategy_returns, color='g', label = 'Strategy Returns')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plt.legend()</a:t>
                      </a:r>
                      <a:endParaRPr b="0" lang="en-IE" sz="1800" spc="-1" strike="noStrike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E" sz="1800" spc="-1" strike="noStrike">
                          <a:latin typeface="Courier New"/>
                        </a:rPr>
                        <a:t>plt.show()</a:t>
                      </a:r>
                      <a:endParaRPr b="0" lang="en-IE" sz="1800" spc="-1" strike="noStrike"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</a:tbl>
          </a:graphicData>
        </a:graphic>
      </p:graphicFrame>
    </p:spTree>
  </p:cSld>
  <p:timing>
    <p:tnLst>
      <p:par>
        <p:cTn id="47" dur="indefinite" restart="never" nodeType="tmRoot">
          <p:childTnLst>
            <p:seq>
              <p:cTn id="4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4591</TotalTime>
  <Application>LibreOffice/6.0.3.2$Linux_X86_64 LibreOffice_project/00m0$Build-2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2018-05-27T16:28:29Z</dcterms:created>
  <dc:creator/>
  <dc:description/>
  <dc:language>en-IE</dc:language>
  <cp:lastModifiedBy/>
  <dcterms:modified xsi:type="dcterms:W3CDTF">2018-06-04T23:04:09Z</dcterms:modified>
  <cp:revision>106</cp:revision>
  <dc:subject/>
  <dc:title>Blue Curve</dc:title>
</cp:coreProperties>
</file>